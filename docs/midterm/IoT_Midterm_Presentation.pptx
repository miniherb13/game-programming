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retendard"/>
      <p:regular r:id="rId12"/>
    </p:embeddedFont>
    <p:embeddedFont>
      <p:font typeface="Pretendard Black"/>
      <p:regular r:id="rId13"/>
    </p:embeddedFont>
    <p:embeddedFont>
      <p:font typeface="Pretendard Medium"/>
      <p:regular r:id="rId14"/>
    </p:embeddedFont>
    <p:embeddedFont>
      <p:font typeface="Pretendard SemiBold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73EB88-F85F-4090-B60C-9B55A0FD3CBA}" v="7" dt="2026-06-07T10:17:23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82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IoT Systems  ·  Midterm Draft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6400800" cy="1255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4000" b="1" spc="-160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Motion-Adaptive</a:t>
            </a:r>
          </a:p>
          <a:p>
            <a:pPr algn="l">
              <a:lnSpc>
                <a:spcPct val="104000"/>
              </a:lnSpc>
              <a:spcBef>
                <a:spcPts val="0"/>
              </a:spcBef>
            </a:pPr>
            <a:r>
              <a:rPr sz="4000" b="1" spc="-160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AI Companion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71800"/>
            <a:ext cx="5852160" cy="5923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LLM-based Emotional Interactive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AIoT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System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LLM </a:t>
            </a:r>
            <a:r>
              <a:rPr sz="14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기반</a:t>
            </a:r>
            <a:r>
              <a:rPr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감정형</a:t>
            </a:r>
            <a:r>
              <a:rPr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AIoT</a:t>
            </a:r>
            <a:r>
              <a:rPr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동반</a:t>
            </a:r>
            <a:r>
              <a:rPr sz="14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로봇</a:t>
            </a:r>
            <a:endParaRPr sz="14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3977639"/>
            <a:ext cx="5852160" cy="269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300" dirty="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Team  </a:t>
            </a:r>
            <a:r>
              <a:rPr sz="1300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Park </a:t>
            </a:r>
            <a:r>
              <a:rPr sz="1300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Hyodam</a:t>
            </a:r>
            <a:r>
              <a:rPr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 202304709 · Captain</a:t>
            </a:r>
            <a:r>
              <a:rPr lang="en-US"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/</a:t>
            </a:r>
            <a:r>
              <a:rPr sz="1300" dirty="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1300" dirty="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J</a:t>
            </a:r>
            <a:r>
              <a:rPr sz="1300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o </a:t>
            </a:r>
            <a:r>
              <a:rPr sz="1300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Hy</a:t>
            </a:r>
            <a:r>
              <a:rPr lang="en-US" sz="1300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eo</a:t>
            </a:r>
            <a:r>
              <a:rPr sz="1300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njin</a:t>
            </a:r>
            <a:r>
              <a:rPr sz="12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 202304438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749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3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Raspberry Pi · AIoT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5074920"/>
            <a:ext cx="1554480" cy="4572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507492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English slides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417320"/>
            <a:ext cx="443484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543800" y="169164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44968" y="169164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946136" y="169164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6642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companion.py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69480" y="2075688"/>
            <a:ext cx="4434840" cy="0"/>
          </a:xfrm>
          <a:prstGeom prst="bentConnector3">
            <a:avLst/>
          </a:prstGeom>
          <a:ln w="12700">
            <a:solidFill>
              <a:srgbClr val="F3F4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80960" y="2377440"/>
            <a:ext cx="3611879" cy="1005840"/>
          </a:xfrm>
          <a:prstGeom prst="roundRect">
            <a:avLst>
              <a:gd name="adj" fmla="val 7000"/>
            </a:avLst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2542032"/>
            <a:ext cx="31546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600">
                <a:solidFill>
                  <a:srgbClr val="34D399"/>
                </a:solidFill>
                <a:latin typeface="Pretendard Medium"/>
                <a:ea typeface="Pretendard Medium"/>
                <a:cs typeface="Pretendard Medium"/>
              </a:rPr>
              <a:t>Companion Bot</a:t>
            </a:r>
          </a:p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600">
                <a:solidFill>
                  <a:srgbClr val="A1A1AA"/>
                </a:solidFill>
                <a:latin typeface="Pretendard Medium"/>
                <a:ea typeface="Pretendard Medium"/>
                <a:cs typeface="Pretendard Medium"/>
              </a:rPr>
              <a:t>Zzz...</a:t>
            </a:r>
          </a:p>
        </p:txBody>
      </p:sp>
      <p:sp>
        <p:nvSpPr>
          <p:cNvPr id="19" name="Oval 18"/>
          <p:cNvSpPr/>
          <p:nvPr/>
        </p:nvSpPr>
        <p:spPr>
          <a:xfrm>
            <a:off x="7680960" y="3703320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18704" y="368503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374151"/>
                </a:solidFill>
                <a:latin typeface="Pretendard Medium"/>
                <a:ea typeface="Pretendard Medium"/>
                <a:cs typeface="Pretendard Medium"/>
              </a:rPr>
              <a:t>LED</a:t>
            </a:r>
          </a:p>
        </p:txBody>
      </p:sp>
      <p:sp>
        <p:nvSpPr>
          <p:cNvPr id="21" name="Oval 20"/>
          <p:cNvSpPr/>
          <p:nvPr/>
        </p:nvSpPr>
        <p:spPr>
          <a:xfrm>
            <a:off x="9098280" y="3703320"/>
            <a:ext cx="146304" cy="146304"/>
          </a:xfrm>
          <a:prstGeom prst="ellipse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6024" y="368503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374151"/>
                </a:solidFill>
                <a:latin typeface="Pretendard Medium"/>
                <a:ea typeface="Pretendard Medium"/>
                <a:cs typeface="Pretendard Medium"/>
              </a:rPr>
              <a:t>Buzzer</a:t>
            </a:r>
          </a:p>
        </p:txBody>
      </p:sp>
      <p:sp>
        <p:nvSpPr>
          <p:cNvPr id="23" name="Oval 22"/>
          <p:cNvSpPr/>
          <p:nvPr/>
        </p:nvSpPr>
        <p:spPr>
          <a:xfrm>
            <a:off x="10469880" y="3703320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07624" y="368503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374151"/>
                </a:solidFill>
                <a:latin typeface="Pretendard Medium"/>
                <a:ea typeface="Pretendard Medium"/>
                <a:cs typeface="Pretendard Medium"/>
              </a:rPr>
              <a:t>Camera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160520"/>
            <a:ext cx="36118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Sensor  →  Decision  →  Actuator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644652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Source: team project draft (MIDTERM_PRESENTATION.md)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A.  Main Idea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538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400" b="1" spc="-136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A desktop companion that senses you, and responds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4552" cy="498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Sensor → Decision → Actuator on a Raspberry Pi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센서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판단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출력이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하나로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이어진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AIoT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파이프라인을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라즈베리파이로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구현</a:t>
            </a:r>
            <a:endParaRPr lang="en-US" sz="1400" dirty="0">
              <a:solidFill>
                <a:srgbClr val="37415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3383280" cy="10515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" y="2496312"/>
            <a:ext cx="310896" cy="31089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542952"/>
            <a:ext cx="31089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2459736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Sensor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771768"/>
            <a:ext cx="2560320" cy="406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Camera · Ultrasonic</a:t>
            </a: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카메라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초음파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986783" y="2532888"/>
            <a:ext cx="3931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2000">
                <a:solidFill>
                  <a:srgbClr val="6B7280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40280"/>
            <a:ext cx="3383280" cy="10515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90872" y="2496312"/>
            <a:ext cx="310896" cy="31089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2542952"/>
            <a:ext cx="31089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2459736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2771768"/>
            <a:ext cx="2560320" cy="406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Motion / Proximity logic</a:t>
            </a: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0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움직임 · 근접 판단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2532888"/>
            <a:ext cx="39319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2000">
                <a:solidFill>
                  <a:srgbClr val="6B7280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240280"/>
            <a:ext cx="3383280" cy="10515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77072" y="2496312"/>
            <a:ext cx="310896" cy="31089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77072" y="2542952"/>
            <a:ext cx="310896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2459736"/>
            <a:ext cx="25603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Actuator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771768"/>
            <a:ext cx="2560320" cy="406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LCD · LED · Buzzer</a:t>
            </a:r>
          </a:p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110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LCD · LED · 버저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9300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520439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493008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3520439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00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KO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931920"/>
            <a:ext cx="82296" cy="502920"/>
          </a:xfrm>
          <a:prstGeom prst="roundRect">
            <a:avLst>
              <a:gd name="adj" fmla="val 4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3877056"/>
            <a:ext cx="5074920" cy="446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Build an </a:t>
            </a: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AIoT</a:t>
            </a: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 pipeline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Sensor → Decision → Actuator on one device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931920"/>
            <a:ext cx="82296" cy="502920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3877056"/>
            <a:ext cx="5193792" cy="444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AIoT</a:t>
            </a: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파이프라인</a:t>
            </a: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구축</a:t>
            </a:r>
            <a:endParaRPr sz="1300" b="1" dirty="0">
              <a:solidFill>
                <a:srgbClr val="111111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기기에서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센서→판단→출력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연결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57200" y="4517136"/>
            <a:ext cx="82296" cy="502920"/>
          </a:xfrm>
          <a:prstGeom prst="roundRect">
            <a:avLst>
              <a:gd name="adj" fmla="val 4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4462272"/>
            <a:ext cx="5074920" cy="446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Sense motion &amp; proximity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Camera (OpenCV) + ultrasonic (HC-SR04)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517136"/>
            <a:ext cx="82296" cy="502920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4462272"/>
            <a:ext cx="5193792" cy="444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움직임·근접</a:t>
            </a: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동시</a:t>
            </a: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감지</a:t>
            </a:r>
            <a:endParaRPr sz="1300" b="1" dirty="0">
              <a:solidFill>
                <a:srgbClr val="111111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카메라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(OpenCV) +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초음파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(HC-SR04)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102351"/>
            <a:ext cx="82296" cy="502920"/>
          </a:xfrm>
          <a:prstGeom prst="roundRect">
            <a:avLst>
              <a:gd name="adj" fmla="val 4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5047488"/>
            <a:ext cx="5074920" cy="446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Show state on LCD / LED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Greeting, idle, and reply states; buzzer alert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102351"/>
            <a:ext cx="82296" cy="502920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5047488"/>
            <a:ext cx="5193792" cy="444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LCD·LED로</a:t>
            </a: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상태</a:t>
            </a: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표현</a:t>
            </a:r>
            <a:endParaRPr sz="1300" b="1" dirty="0">
              <a:solidFill>
                <a:srgbClr val="111111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대기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인사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응답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상태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+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버저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알림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57200" y="5687567"/>
            <a:ext cx="82296" cy="502920"/>
          </a:xfrm>
          <a:prstGeom prst="roundRect">
            <a:avLst>
              <a:gd name="adj" fmla="val 4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5632703"/>
            <a:ext cx="5074920" cy="446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Short English chat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Keyword / LLM reply shown on a 2×16 LCD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5687567"/>
            <a:ext cx="82296" cy="502920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5632703"/>
            <a:ext cx="5193792" cy="444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짧은</a:t>
            </a: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영어</a:t>
            </a: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대화</a:t>
            </a:r>
            <a:endParaRPr sz="1300" b="1" dirty="0">
              <a:solidFill>
                <a:srgbClr val="111111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키워드·LLM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응답을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2×16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LCD에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표시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989320" y="3493008"/>
            <a:ext cx="0" cy="2240280"/>
          </a:xfrm>
          <a:prstGeom prst="bentConnector3">
            <a:avLst/>
          </a:prstGeom>
          <a:ln w="12700">
            <a:solidFill>
              <a:srgbClr val="F3F4F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2552" y="644652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Source: project objective, MIDTERM_PRESENTATION.md §A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B.  System Design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538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400" b="1" spc="-136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Three modules: Input, Processing,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4552" cy="498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Architecture split into 3 modules with a main loop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세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모듈로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분리한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구조와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메인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루프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동작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방식</a:t>
            </a:r>
            <a:endParaRPr sz="1400" dirty="0">
              <a:solidFill>
                <a:srgbClr val="37415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3429000" cy="4572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404872"/>
            <a:ext cx="3063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INPUT</a:t>
            </a:r>
            <a:r>
              <a:rPr sz="1100" b="1" dirty="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  </a:t>
            </a:r>
            <a:r>
              <a:rPr sz="1100" b="1" dirty="0" err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입력</a:t>
            </a:r>
            <a:endParaRPr sz="1100" b="1" dirty="0">
              <a:solidFill>
                <a:srgbClr val="6B728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9" name="Oval 8"/>
          <p:cNvSpPr/>
          <p:nvPr/>
        </p:nvSpPr>
        <p:spPr>
          <a:xfrm>
            <a:off x="731520" y="2953512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89504"/>
            <a:ext cx="2880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Camera (OpenCV)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3375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273552"/>
            <a:ext cx="2880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Ultrasonic HC-SR04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21608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880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Terminal keyboard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7" y="3063240"/>
            <a:ext cx="4389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2000">
                <a:solidFill>
                  <a:srgbClr val="6B7280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7" y="228600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07407" y="2286000"/>
            <a:ext cx="3429000" cy="4572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7" y="2404872"/>
            <a:ext cx="3063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PROCESSING</a:t>
            </a:r>
            <a:r>
              <a:rPr sz="1100" b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  처리</a:t>
            </a:r>
          </a:p>
        </p:txBody>
      </p:sp>
      <p:sp>
        <p:nvSpPr>
          <p:cNvPr id="19" name="Oval 18"/>
          <p:cNvSpPr/>
          <p:nvPr/>
        </p:nvSpPr>
        <p:spPr>
          <a:xfrm>
            <a:off x="4636007" y="2953512"/>
            <a:ext cx="73152" cy="73152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18888" y="2889504"/>
            <a:ext cx="2880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companion.py (main)</a:t>
            </a:r>
          </a:p>
        </p:txBody>
      </p:sp>
      <p:sp>
        <p:nvSpPr>
          <p:cNvPr id="21" name="Oval 20"/>
          <p:cNvSpPr/>
          <p:nvPr/>
        </p:nvSpPr>
        <p:spPr>
          <a:xfrm>
            <a:off x="4636007" y="3337560"/>
            <a:ext cx="73152" cy="73152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18888" y="3273552"/>
            <a:ext cx="2880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motion.py</a:t>
            </a:r>
          </a:p>
        </p:txBody>
      </p:sp>
      <p:sp>
        <p:nvSpPr>
          <p:cNvPr id="23" name="Oval 22"/>
          <p:cNvSpPr/>
          <p:nvPr/>
        </p:nvSpPr>
        <p:spPr>
          <a:xfrm>
            <a:off x="4636007" y="3721608"/>
            <a:ext cx="73152" cy="73152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18888" y="3657600"/>
            <a:ext cx="2880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reply.py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4696" y="3063240"/>
            <a:ext cx="4389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2000">
                <a:solidFill>
                  <a:srgbClr val="6B7280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1896" y="2286000"/>
            <a:ext cx="34290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311896" y="2286000"/>
            <a:ext cx="3429000" cy="4572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0496" y="2404872"/>
            <a:ext cx="3063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OUTPUT</a:t>
            </a:r>
            <a:r>
              <a:rPr sz="1100" b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  출력</a:t>
            </a:r>
          </a:p>
        </p:txBody>
      </p:sp>
      <p:sp>
        <p:nvSpPr>
          <p:cNvPr id="29" name="Oval 28"/>
          <p:cNvSpPr/>
          <p:nvPr/>
        </p:nvSpPr>
        <p:spPr>
          <a:xfrm>
            <a:off x="8540496" y="2953512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2889504"/>
            <a:ext cx="2880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LCD (I2C 0x27)</a:t>
            </a:r>
          </a:p>
        </p:txBody>
      </p:sp>
      <p:sp>
        <p:nvSpPr>
          <p:cNvPr id="31" name="Oval 30"/>
          <p:cNvSpPr/>
          <p:nvPr/>
        </p:nvSpPr>
        <p:spPr>
          <a:xfrm>
            <a:off x="8540496" y="3337560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23376" y="3273552"/>
            <a:ext cx="2880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LED (GPIO 17)</a:t>
            </a:r>
          </a:p>
        </p:txBody>
      </p:sp>
      <p:sp>
        <p:nvSpPr>
          <p:cNvPr id="33" name="Oval 32"/>
          <p:cNvSpPr/>
          <p:nvPr/>
        </p:nvSpPr>
        <p:spPr>
          <a:xfrm>
            <a:off x="8540496" y="3721608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723376" y="3657600"/>
            <a:ext cx="288036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Buzzer (GPIO 27)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34840"/>
            <a:ext cx="5486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Main loop </a:t>
            </a:r>
            <a:r>
              <a:rPr sz="1200" b="1" dirty="0" err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메인</a:t>
            </a:r>
            <a:r>
              <a:rPr sz="1200" b="1" dirty="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200" b="1" dirty="0" err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루프</a:t>
            </a:r>
            <a:r>
              <a:rPr sz="1200" b="1" dirty="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200" b="1" dirty="0" err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동작</a:t>
            </a:r>
            <a:endParaRPr sz="1200" b="1" dirty="0">
              <a:solidFill>
                <a:srgbClr val="6B728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57200" y="4818888"/>
            <a:ext cx="2697480" cy="1234440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58368" y="5001768"/>
            <a:ext cx="292608" cy="29260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" y="5020055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385816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Capture frame every 2 s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2초마다 프레임 촬영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64408" y="4818888"/>
            <a:ext cx="2697480" cy="1234440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465576" y="5001768"/>
            <a:ext cx="292608" cy="29260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65576" y="5020055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5576" y="5385816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detect_motion() ROI diff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중앙 ROI 차이로 움직임 감지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71616" y="4818888"/>
            <a:ext cx="2697480" cy="1234440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272784" y="5001768"/>
            <a:ext cx="292608" cy="29260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272784" y="5020055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4" y="5385816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Ultrasonic ≤ 20 cm check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초음파 20cm 이하 확인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78824" y="4818888"/>
            <a:ext cx="2697480" cy="1234440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079992" y="5001768"/>
            <a:ext cx="292608" cy="29260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79992" y="5020055"/>
            <a:ext cx="292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79992" y="5385816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Motion OR close → show_motion()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둘 중 하나면 motion 상태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02552" y="644652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Source: companion.py main loop, MIDTERM_PRESENTATION.md §B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C.  Key Code — Actuator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538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400" b="1" spc="-136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State → LCD + LED + Buzzer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4552" cy="498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Maps robot state to actuators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로봇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상태를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출력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장치로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변환하는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핵심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클래스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(lcd_actuator.py)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5989320" cy="393192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5989320" cy="384048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55321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10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lcd_actuator.py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5440680" cy="27915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class Actuator: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>
                <a:solidFill>
                  <a:srgbClr val="34D399"/>
                </a:solidFill>
                <a:latin typeface="Pretendard"/>
                <a:ea typeface="Pretendard"/>
                <a:cs typeface="Pretendard"/>
              </a:rPr>
              <a:t>    def show_idle(self, distance=None):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       self._led(False)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       self._lcd("Companion Bot", "Zzz...")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50">
              <a:solidFill>
                <a:srgbClr val="A1A1AA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>
                <a:solidFill>
                  <a:srgbClr val="34D399"/>
                </a:solidFill>
                <a:latin typeface="Pretendard"/>
                <a:ea typeface="Pretendard"/>
                <a:cs typeface="Pretendard"/>
              </a:rPr>
              <a:t>    def show_motion(self, distance=None):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       self._led(True)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       self._lcd("Hi there!", "I see you!")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>
                <a:solidFill>
                  <a:srgbClr val="FB923C"/>
                </a:solidFill>
                <a:latin typeface="Pretendard"/>
                <a:ea typeface="Pretendard"/>
                <a:cs typeface="Pretendard"/>
              </a:rPr>
              <a:t>        self._buzzer_beep(0.4)   # now integrated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endParaRPr sz="1150">
              <a:solidFill>
                <a:srgbClr val="FB923C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>
                <a:solidFill>
                  <a:srgbClr val="34D399"/>
                </a:solidFill>
                <a:latin typeface="Pretendard"/>
                <a:ea typeface="Pretendard"/>
                <a:cs typeface="Pretendard"/>
              </a:rPr>
              <a:t>    def show_reply(self, line1, line2=""):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       self._led(True)</a:t>
            </a:r>
          </a:p>
          <a:p>
            <a:pPr>
              <a:lnSpc>
                <a:spcPct val="122000"/>
              </a:lnSpc>
              <a:spcBef>
                <a:spcPts val="0"/>
              </a:spcBef>
            </a:pPr>
            <a:r>
              <a:rPr sz="11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       self._lcd(line1, line2)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240280"/>
            <a:ext cx="502920" cy="237744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2267712"/>
            <a:ext cx="5029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9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EN / KO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651760"/>
            <a:ext cx="5029200" cy="84124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2779776"/>
            <a:ext cx="4572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show_idle</a:t>
            </a: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027800"/>
            <a:ext cx="4572000" cy="391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Waiting — no user detected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대기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상태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사용자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없음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75120" y="3602736"/>
            <a:ext cx="5029200" cy="84124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730752"/>
            <a:ext cx="4572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show_motion</a:t>
            </a: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978775"/>
            <a:ext cx="4572000" cy="391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User detected → LED on, greeting, beep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감지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시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LED·인사·버저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675120" y="4553712"/>
            <a:ext cx="5029200" cy="84124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4681728"/>
            <a:ext cx="45720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show_reply</a:t>
            </a: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929752"/>
            <a:ext cx="4572000" cy="391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Chat response on 2×16 LCD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대화 응답을 LCD 2줄 출력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5504688"/>
            <a:ext cx="5029200" cy="566928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03720" y="5593152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00" b="1" dirty="0">
                <a:solidFill>
                  <a:srgbClr val="34D399"/>
                </a:solidFill>
                <a:latin typeface="Pretendard SemiBold"/>
                <a:ea typeface="Pretendard SemiBold"/>
                <a:cs typeface="Pretendard SemiBold"/>
              </a:rPr>
              <a:t>Update  </a:t>
            </a:r>
            <a:r>
              <a:rPr sz="1100" b="1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buzzer is now wired into </a:t>
            </a:r>
            <a:r>
              <a:rPr sz="1100" b="1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show_motion</a:t>
            </a:r>
            <a:r>
              <a:rPr sz="1100" b="1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()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dirty="0" err="1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버저를</a:t>
            </a:r>
            <a:r>
              <a:rPr sz="1050" dirty="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dirty="0" err="1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show_motion</a:t>
            </a:r>
            <a:r>
              <a:rPr sz="1050" dirty="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()에 </a:t>
            </a:r>
            <a:r>
              <a:rPr sz="1050" dirty="0" err="1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통합</a:t>
            </a:r>
            <a:r>
              <a:rPr sz="1050" dirty="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dirty="0" err="1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완료</a:t>
            </a:r>
            <a:r>
              <a:rPr sz="1050" dirty="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sz="1050" dirty="0" err="1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초안의</a:t>
            </a:r>
            <a:r>
              <a:rPr sz="1050" dirty="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dirty="0" err="1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sz="1050" dirty="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50" dirty="0" err="1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단계</a:t>
            </a:r>
            <a:r>
              <a:rPr sz="1050" dirty="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050" dirty="0" err="1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구현됨</a:t>
            </a:r>
            <a:r>
              <a:rPr sz="1050" dirty="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6446520"/>
            <a:ext cx="5029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Source: lcd_actuator.py (live code)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C.  Key Code — Motion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538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400" b="1" spc="-136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Lightweight ROI frame-diff, no heavy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4552" cy="498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Center-ROI grayscale diff on Raspberry Pi</a:t>
            </a:r>
            <a:endParaRPr lang="en-US" sz="1400" dirty="0">
              <a:solidFill>
                <a:srgbClr val="374151"/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중앙 </a:t>
            </a:r>
            <a:r>
              <a:rPr lang="en-US" altLang="ko-KR"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ROI </a:t>
            </a:r>
            <a:r>
              <a:rPr lang="ko-KR" altLang="en-US"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밝기 차이로 빠르게 움직임 판단 </a:t>
            </a:r>
            <a:r>
              <a:rPr lang="en-US" altLang="ko-KR"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(motion.py) </a:t>
            </a:r>
            <a:endParaRPr sz="1400" dirty="0">
              <a:solidFill>
                <a:srgbClr val="37415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5989320" cy="2331720"/>
          </a:xfrm>
          <a:prstGeom prst="roundRect">
            <a:avLst>
              <a:gd name="adj" fmla="val 4000"/>
            </a:avLst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2240280"/>
            <a:ext cx="5989320" cy="384048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5532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motion.py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5440680" cy="1600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>
                <a:solidFill>
                  <a:srgbClr val="34D399"/>
                </a:solidFill>
                <a:latin typeface="Pretendard"/>
                <a:ea typeface="Pretendard"/>
                <a:cs typeface="Pretendard"/>
              </a:rPr>
              <a:t>def detect_motion(prev, curr, threshold=25):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   # center ROI -&gt; grayscale -&gt; abs diff mean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   return motion_score(prev, curr) &gt; threshold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sz="1150">
              <a:solidFill>
                <a:srgbClr val="A1A1AA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>
                <a:solidFill>
                  <a:srgbClr val="34D399"/>
                </a:solidFill>
                <a:latin typeface="Pretendard"/>
                <a:ea typeface="Pretendard"/>
                <a:cs typeface="Pretendard"/>
              </a:rPr>
              <a:t>def motion_score(prev, curr):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   diff = cv2.absdiff(prev_gray, curr_gray)</a:t>
            </a: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1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    return float(diff.mean())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709160"/>
            <a:ext cx="5989320" cy="141732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855464"/>
            <a:ext cx="55321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Center ROI</a:t>
            </a:r>
            <a:r>
              <a:rPr sz="1200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중앙</a:t>
            </a:r>
            <a:r>
              <a:rPr sz="1100" dirty="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관심영역만</a:t>
            </a:r>
            <a:r>
              <a:rPr sz="1100" dirty="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비교</a:t>
            </a:r>
            <a:endParaRPr sz="1100" dirty="0">
              <a:solidFill>
                <a:srgbClr val="6B728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417320" cy="777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85850" y="5406390"/>
            <a:ext cx="708660" cy="38862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5850" y="5460796"/>
            <a:ext cx="7086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9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5435913"/>
            <a:ext cx="3749039" cy="4210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b="1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Only the center quarter is checked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프레임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가운데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1/4만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비교해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연산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절감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75120" y="2331720"/>
            <a:ext cx="5029200" cy="84124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876288" y="2624327"/>
            <a:ext cx="91440" cy="256032"/>
          </a:xfrm>
          <a:prstGeom prst="roundRect">
            <a:avLst>
              <a:gd name="adj" fmla="val 4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2521832"/>
            <a:ext cx="4389120" cy="461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OpenCV from Lab 8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Lab 8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카메라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실습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방식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재사용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675120" y="3282696"/>
            <a:ext cx="5029200" cy="84124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76288" y="3575303"/>
            <a:ext cx="91440" cy="256032"/>
          </a:xfrm>
          <a:prstGeom prst="roundRect">
            <a:avLst>
              <a:gd name="adj" fmla="val 4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0" y="3472808"/>
            <a:ext cx="4389120" cy="461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No ML model → fast on Pi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무거운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모델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없이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라즈베리파이에서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빠르게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675120" y="4233672"/>
            <a:ext cx="5029200" cy="84124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76288" y="4526280"/>
            <a:ext cx="91440" cy="256032"/>
          </a:xfrm>
          <a:prstGeom prst="roundRect">
            <a:avLst>
              <a:gd name="adj" fmla="val 4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0" y="4423784"/>
            <a:ext cx="4389120" cy="461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threshold = 25 (tunable)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임계값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25,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환경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따라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조정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가능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675120" y="5184648"/>
            <a:ext cx="5029200" cy="84124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76288" y="5477256"/>
            <a:ext cx="91440" cy="256032"/>
          </a:xfrm>
          <a:prstGeom prst="roundRect">
            <a:avLst>
              <a:gd name="adj" fmla="val 4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0" y="5374760"/>
            <a:ext cx="4389120" cy="461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3 s cooldown blocks re-trigger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3초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쿨다운으로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오탐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방지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644652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Source: motion.py (live code), Lab 8 camera practice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D.  Hardware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538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400" b="1" spc="-136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Raspberry Pi 4 with five wired peripherals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4552" cy="498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Wiring map (BCM) — pin conflicts already resolved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BCM 핀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배치와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인터페이스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구성</a:t>
            </a:r>
            <a:endParaRPr sz="1400" dirty="0">
              <a:solidFill>
                <a:srgbClr val="37415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6949440" cy="5029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445127"/>
            <a:ext cx="3383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445127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445127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BCM 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48047"/>
            <a:ext cx="3383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Raspberry Pi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948047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main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948047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2788920"/>
            <a:ext cx="6949440" cy="0"/>
          </a:xfrm>
          <a:prstGeom prst="bentConnector3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7200" y="3291839"/>
            <a:ext cx="694944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450966"/>
            <a:ext cx="3383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Camera Module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450966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CSI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50966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rpicam-still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3291839"/>
            <a:ext cx="6949440" cy="0"/>
          </a:xfrm>
          <a:prstGeom prst="bentConnector3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3953886"/>
            <a:ext cx="3383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I2C LCD 1602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953886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I2C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953886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SDA/SCL · 0x27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7200" y="3794759"/>
            <a:ext cx="6949440" cy="0"/>
          </a:xfrm>
          <a:prstGeom prst="bentConnector3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57200" y="4297679"/>
            <a:ext cx="694944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456806"/>
            <a:ext cx="3383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456806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GPIO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456806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17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4297679"/>
            <a:ext cx="6949440" cy="0"/>
          </a:xfrm>
          <a:prstGeom prst="bentConnector3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4959726"/>
            <a:ext cx="3383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Ultrasonic HC-SR04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959726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TRIG / ECHO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959726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16 / 18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7200" y="4800599"/>
            <a:ext cx="6949440" cy="0"/>
          </a:xfrm>
          <a:prstGeom prst="bentConnector3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57200" y="5303519"/>
            <a:ext cx="6949440" cy="5029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462646"/>
            <a:ext cx="3383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Buzzer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462646"/>
            <a:ext cx="16459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GPIO 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462646"/>
            <a:ext cx="14630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</a:pPr>
            <a:r>
              <a:rPr sz="120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27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5303519"/>
            <a:ext cx="6949440" cy="0"/>
          </a:xfrm>
          <a:prstGeom prst="bentConnector3">
            <a:avLst/>
          </a:prstGeom>
          <a:ln w="9525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726679" y="2286000"/>
            <a:ext cx="3977639" cy="3520440"/>
          </a:xfrm>
          <a:prstGeom prst="roundRect">
            <a:avLst>
              <a:gd name="adj" fmla="val 5000"/>
            </a:avLst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01000" y="2542032"/>
            <a:ext cx="342899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핀 </a:t>
            </a:r>
            <a:r>
              <a:rPr sz="14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충돌</a:t>
            </a:r>
            <a:r>
              <a:rPr sz="1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해결</a:t>
            </a:r>
            <a:r>
              <a:rPr sz="1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sz="1100" b="1" dirty="0">
                <a:solidFill>
                  <a:srgbClr val="A1A1AA"/>
                </a:solidFill>
                <a:latin typeface="Pretendard Medium"/>
                <a:ea typeface="Pretendard Medium"/>
                <a:cs typeface="Pretendard Medium"/>
              </a:rPr>
              <a:t>Pin conflict fixed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3218688"/>
            <a:ext cx="82296" cy="50292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29600" y="3154680"/>
            <a:ext cx="3200399" cy="648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200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ECHO가</a:t>
            </a:r>
            <a:r>
              <a:rPr sz="120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18번이라 </a:t>
            </a:r>
            <a:r>
              <a:rPr sz="1200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버저를</a:t>
            </a:r>
            <a:r>
              <a:rPr sz="120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18번에 둘 수 </a:t>
            </a:r>
            <a:r>
              <a:rPr sz="1200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없어</a:t>
            </a:r>
            <a:r>
              <a:rPr sz="1200" dirty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 27번으로 </a:t>
            </a:r>
            <a:r>
              <a:rPr sz="1200" dirty="0" err="1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분리</a:t>
            </a:r>
            <a:endParaRPr sz="1200" dirty="0">
              <a:solidFill>
                <a:srgbClr val="FFFFFF"/>
              </a:solidFill>
              <a:latin typeface="Pretendard Medium"/>
              <a:ea typeface="Pretendard Medium"/>
              <a:cs typeface="Pretendard Medium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050" dirty="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Buzzer moved 18 → 27 to avoid ECHO clash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0" y="4059936"/>
            <a:ext cx="82296" cy="50292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0" y="3995928"/>
            <a:ext cx="3200399" cy="417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LED는 GPIO 17, 초음파 TRIG 16 / ECHO 18로 고정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0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LED 17, ultrasonic 16/18 fixed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01000" y="4901184"/>
            <a:ext cx="82296" cy="502920"/>
          </a:xfrm>
          <a:prstGeom prst="roundRect">
            <a:avLst>
              <a:gd name="adj" fmla="val 4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0" y="4837176"/>
            <a:ext cx="3200399" cy="648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2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Lab 9에서 터치·LED 2개 제어로 GPIO 출력 경험 확보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0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Lab 9 gave touch + dual-LED GPIO practice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2552" y="644652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Source: config.py wiring constants (BCM)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E.  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538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400" b="1" spc="-136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Five blockers met, five fixes applied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4552" cy="498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Problems encountered and how we solved them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현재까지의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문제와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해결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방법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402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7" name="TextBox 6"/>
          <p:cNvSpPr txBox="1"/>
          <p:nvPr/>
        </p:nvSpPr>
        <p:spPr>
          <a:xfrm>
            <a:off x="457200" y="2294008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Challenge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240280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9" name="TextBox 8"/>
          <p:cNvSpPr txBox="1"/>
          <p:nvPr/>
        </p:nvSpPr>
        <p:spPr>
          <a:xfrm>
            <a:off x="6263640" y="2294008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Solution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70048"/>
            <a:ext cx="5349240" cy="585216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11" name="TextBox 10"/>
          <p:cNvSpPr txBox="1"/>
          <p:nvPr/>
        </p:nvSpPr>
        <p:spPr>
          <a:xfrm>
            <a:off x="685800" y="2753111"/>
            <a:ext cx="4937760" cy="4190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GPIO pin conflict (ECHO 18 vs buzzer)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GPIO 핀 충돌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834640"/>
            <a:ext cx="365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6B7280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670048"/>
            <a:ext cx="5468112" cy="5852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14" name="Rounded Rectangle 13"/>
          <p:cNvSpPr/>
          <p:nvPr/>
        </p:nvSpPr>
        <p:spPr>
          <a:xfrm>
            <a:off x="6263640" y="2670048"/>
            <a:ext cx="82296" cy="585216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15" name="TextBox 14"/>
          <p:cNvSpPr txBox="1"/>
          <p:nvPr/>
        </p:nvSpPr>
        <p:spPr>
          <a:xfrm>
            <a:off x="6537960" y="2753111"/>
            <a:ext cx="5029200" cy="4190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Buzzer moved to GPIO 27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버저를 27번으로 분리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46704"/>
            <a:ext cx="5349240" cy="585216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17" name="TextBox 16"/>
          <p:cNvSpPr txBox="1"/>
          <p:nvPr/>
        </p:nvSpPr>
        <p:spPr>
          <a:xfrm>
            <a:off x="685800" y="3429767"/>
            <a:ext cx="4937760" cy="4190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No speaker available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스피커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511296"/>
            <a:ext cx="365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6B7280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346704"/>
            <a:ext cx="5468112" cy="5852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20" name="Rounded Rectangle 19"/>
          <p:cNvSpPr/>
          <p:nvPr/>
        </p:nvSpPr>
        <p:spPr>
          <a:xfrm>
            <a:off x="6263640" y="3346704"/>
            <a:ext cx="82296" cy="585216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21" name="TextBox 20"/>
          <p:cNvSpPr txBox="1"/>
          <p:nvPr/>
        </p:nvSpPr>
        <p:spPr>
          <a:xfrm>
            <a:off x="6537960" y="3429767"/>
            <a:ext cx="5029200" cy="4190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Text reply on LCD only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LCD 텍스트로 응답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5349240" cy="585216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23" name="TextBox 22"/>
          <p:cNvSpPr txBox="1"/>
          <p:nvPr/>
        </p:nvSpPr>
        <p:spPr>
          <a:xfrm>
            <a:off x="685800" y="4106423"/>
            <a:ext cx="4937760" cy="4190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Local LLM too slow on Pi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Pi 로컬 LLM 과부하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187952"/>
            <a:ext cx="365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6B7280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023360"/>
            <a:ext cx="5468112" cy="5852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26" name="Rounded Rectangle 25"/>
          <p:cNvSpPr/>
          <p:nvPr/>
        </p:nvSpPr>
        <p:spPr>
          <a:xfrm>
            <a:off x="6263640" y="4023360"/>
            <a:ext cx="82296" cy="585216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27" name="TextBox 26"/>
          <p:cNvSpPr txBox="1"/>
          <p:nvPr/>
        </p:nvSpPr>
        <p:spPr>
          <a:xfrm>
            <a:off x="6537960" y="4106423"/>
            <a:ext cx="5029200" cy="4190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Keyword replies + optional Gemini API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키워드 + Gemini API 병행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700016"/>
            <a:ext cx="5349240" cy="585216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29" name="TextBox 28"/>
          <p:cNvSpPr txBox="1"/>
          <p:nvPr/>
        </p:nvSpPr>
        <p:spPr>
          <a:xfrm>
            <a:off x="685800" y="4783079"/>
            <a:ext cx="4937760" cy="4190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Motion false triggers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움직임 오탐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864608"/>
            <a:ext cx="365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6B7280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4700016"/>
            <a:ext cx="5468112" cy="5852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32" name="Rounded Rectangle 31"/>
          <p:cNvSpPr/>
          <p:nvPr/>
        </p:nvSpPr>
        <p:spPr>
          <a:xfrm>
            <a:off x="6263640" y="4700016"/>
            <a:ext cx="82296" cy="585216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33" name="TextBox 32"/>
          <p:cNvSpPr txBox="1"/>
          <p:nvPr/>
        </p:nvSpPr>
        <p:spPr>
          <a:xfrm>
            <a:off x="6537960" y="4783079"/>
            <a:ext cx="5029200" cy="4190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ROI + threshold + 3 s cooldown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ROI·임계값·쿨다운 3초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376672"/>
            <a:ext cx="5349240" cy="585216"/>
          </a:xfrm>
          <a:prstGeom prst="roundRect">
            <a:avLst>
              <a:gd name="adj" fmla="val 7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35" name="TextBox 34"/>
          <p:cNvSpPr txBox="1"/>
          <p:nvPr/>
        </p:nvSpPr>
        <p:spPr>
          <a:xfrm>
            <a:off x="685800" y="5459735"/>
            <a:ext cx="4937760" cy="4190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Module merge conflicts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모듈 병합 충돌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5541264"/>
            <a:ext cx="365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6B7280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5376672"/>
            <a:ext cx="5468112" cy="5852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38" name="Rounded Rectangle 37"/>
          <p:cNvSpPr/>
          <p:nvPr/>
        </p:nvSpPr>
        <p:spPr>
          <a:xfrm>
            <a:off x="6263640" y="5376672"/>
            <a:ext cx="82296" cy="585216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b="1"/>
          </a:p>
        </p:txBody>
      </p:sp>
      <p:sp>
        <p:nvSpPr>
          <p:cNvPr id="39" name="TextBox 38"/>
          <p:cNvSpPr txBox="1"/>
          <p:nvPr/>
        </p:nvSpPr>
        <p:spPr>
          <a:xfrm>
            <a:off x="6537960" y="5459735"/>
            <a:ext cx="5029200" cy="4190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Split files by role (A / B)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역할별 파일 분리(A/B)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2552" y="644652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Source: MIDTERM_PRESENTATION.md §E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F.  Expected Output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538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400" b="1" spc="-136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A three-step demo, low-cost emotional </a:t>
            </a:r>
            <a:r>
              <a:rPr sz="3400" b="1" spc="-136" dirty="0" err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AIoT</a:t>
            </a:r>
            <a:endParaRPr sz="3400" b="1" spc="-136" dirty="0">
              <a:solidFill>
                <a:srgbClr val="11111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4552" cy="498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Final demo scenario and project benefits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최종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시연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시나리오와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기대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효과</a:t>
            </a:r>
            <a:endParaRPr sz="1400" dirty="0">
              <a:solidFill>
                <a:srgbClr val="37415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5486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Demo scenario  </a:t>
            </a:r>
            <a:r>
              <a:rPr sz="1200" b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시연 흐름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06040"/>
            <a:ext cx="3611880" cy="1417320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807208"/>
            <a:ext cx="31546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81528"/>
            <a:ext cx="3154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Idle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47472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LCD: Companion Bot / Zzz... · LED off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대기 — LCD 'Zzz...', LED 꺼짐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108960"/>
            <a:ext cx="2011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6B7280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2606040"/>
            <a:ext cx="3611880" cy="1417320"/>
          </a:xfrm>
          <a:prstGeom prst="roundRect">
            <a:avLst>
              <a:gd name="adj" fmla="val 9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807208"/>
            <a:ext cx="31546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A1A1AA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081528"/>
            <a:ext cx="3154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Detect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47472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Wave or approach → LED on + buzzer beep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>
                <a:solidFill>
                  <a:srgbClr val="A1A1AA"/>
                </a:solidFill>
                <a:latin typeface="Pretendard"/>
                <a:ea typeface="Pretendard"/>
                <a:cs typeface="Pretendard"/>
              </a:rPr>
              <a:t>감지 — LED 켜짐 + 버저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8" y="3108960"/>
            <a:ext cx="2011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6B7280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2606040"/>
            <a:ext cx="3611880" cy="1417320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7" y="2807208"/>
            <a:ext cx="31546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081528"/>
            <a:ext cx="3154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Reply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347472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Type "hello" → 2-line reply on LCD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응답 — 'hello' 입력 시 LCD 2줄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5486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Benefits  </a:t>
            </a:r>
            <a:r>
              <a:rPr sz="1200" b="1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기대 효과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1772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13232" y="4873752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4" name="TextBox 23"/>
          <p:cNvSpPr txBox="1"/>
          <p:nvPr/>
        </p:nvSpPr>
        <p:spPr>
          <a:xfrm>
            <a:off x="713232" y="4934568"/>
            <a:ext cx="365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367528"/>
            <a:ext cx="3154680" cy="454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35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Low-cost prototype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저비용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감정형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AIoT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프로토타입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270248" y="461772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26280" y="4873752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8" name="TextBox 27"/>
          <p:cNvSpPr txBox="1"/>
          <p:nvPr/>
        </p:nvSpPr>
        <p:spPr>
          <a:xfrm>
            <a:off x="4526280" y="4934568"/>
            <a:ext cx="365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367528"/>
            <a:ext cx="3154680" cy="454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35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Reuses Lab 8 + Lab 9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Lab 8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카메라·LCD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+ Lab 9 GPIO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재사용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083296" y="461772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339327" y="4873752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2" name="TextBox 31"/>
          <p:cNvSpPr txBox="1"/>
          <p:nvPr/>
        </p:nvSpPr>
        <p:spPr>
          <a:xfrm>
            <a:off x="8339327" y="4934568"/>
            <a:ext cx="365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5367528"/>
            <a:ext cx="3154680" cy="454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35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Expandable to voice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오프라인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음성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비서로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확장</a:t>
            </a:r>
            <a:r>
              <a:rPr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가능</a:t>
            </a:r>
            <a:endParaRPr sz="1100" dirty="0">
              <a:solidFill>
                <a:srgbClr val="6B728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2552" y="644652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Source: MIDTERM_PRESENTATION.md §F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dirty="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G.  Future Plan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5389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400" b="1" spc="-136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From buzzer integration to final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90472"/>
            <a:ext cx="11274552" cy="498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Roadmap and owners until final submission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최종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제출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전까지의</a:t>
            </a:r>
            <a:r>
              <a:rPr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dirty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로드맵</a:t>
            </a:r>
            <a:endParaRPr sz="1400" dirty="0">
              <a:solidFill>
                <a:srgbClr val="374151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822960" y="3108960"/>
            <a:ext cx="10332720" cy="0"/>
          </a:xfrm>
          <a:prstGeom prst="bentConnector3">
            <a:avLst/>
          </a:prstGeom>
          <a:ln w="254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719071" y="3008376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8" name="TextBox 7"/>
          <p:cNvSpPr txBox="1"/>
          <p:nvPr/>
        </p:nvSpPr>
        <p:spPr>
          <a:xfrm>
            <a:off x="548640" y="2542032"/>
            <a:ext cx="254203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29000"/>
            <a:ext cx="2542032" cy="1874519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0" name="TextBox 9"/>
          <p:cNvSpPr txBox="1"/>
          <p:nvPr/>
        </p:nvSpPr>
        <p:spPr>
          <a:xfrm>
            <a:off x="749808" y="3630168"/>
            <a:ext cx="2139696" cy="208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Integrate buzzer into Actuator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343400"/>
            <a:ext cx="2139696" cy="188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버저 통합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846320"/>
            <a:ext cx="2139696" cy="3200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3" name="TextBox 12"/>
          <p:cNvSpPr txBox="1"/>
          <p:nvPr/>
        </p:nvSpPr>
        <p:spPr>
          <a:xfrm>
            <a:off x="749808" y="4925548"/>
            <a:ext cx="213969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B · Hyodam</a:t>
            </a:r>
          </a:p>
        </p:txBody>
      </p:sp>
      <p:sp>
        <p:nvSpPr>
          <p:cNvPr id="14" name="Oval 13"/>
          <p:cNvSpPr/>
          <p:nvPr/>
        </p:nvSpPr>
        <p:spPr>
          <a:xfrm>
            <a:off x="4425696" y="3008376"/>
            <a:ext cx="201168" cy="20116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5" name="TextBox 14"/>
          <p:cNvSpPr txBox="1"/>
          <p:nvPr/>
        </p:nvSpPr>
        <p:spPr>
          <a:xfrm>
            <a:off x="3255264" y="2542032"/>
            <a:ext cx="254203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5264" y="3429000"/>
            <a:ext cx="2542032" cy="1874519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7" name="TextBox 16"/>
          <p:cNvSpPr txBox="1"/>
          <p:nvPr/>
        </p:nvSpPr>
        <p:spPr>
          <a:xfrm>
            <a:off x="3456432" y="3630168"/>
            <a:ext cx="2139696" cy="4294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Stable companion.py demo on both 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4343400"/>
            <a:ext cx="2139696" cy="188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양쪽 Pi 통합 데모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4846320"/>
            <a:ext cx="2139696" cy="3200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0" name="TextBox 19"/>
          <p:cNvSpPr txBox="1"/>
          <p:nvPr/>
        </p:nvSpPr>
        <p:spPr>
          <a:xfrm>
            <a:off x="3456432" y="4925548"/>
            <a:ext cx="213969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dirty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A · </a:t>
            </a:r>
            <a:r>
              <a:rPr sz="1050" b="1" dirty="0" err="1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Hy</a:t>
            </a:r>
            <a:r>
              <a:rPr lang="en-US" sz="1050" b="1" dirty="0" err="1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eo</a:t>
            </a:r>
            <a:r>
              <a:rPr sz="1050" b="1" dirty="0" err="1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njin</a:t>
            </a:r>
            <a:endParaRPr sz="1050" b="1" dirty="0">
              <a:solidFill>
                <a:srgbClr val="111111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132319" y="3008376"/>
            <a:ext cx="201168" cy="201168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2" name="TextBox 21"/>
          <p:cNvSpPr txBox="1"/>
          <p:nvPr/>
        </p:nvSpPr>
        <p:spPr>
          <a:xfrm>
            <a:off x="5961888" y="2542032"/>
            <a:ext cx="254203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Next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1888" y="3429000"/>
            <a:ext cx="2542032" cy="1874519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4" name="TextBox 23"/>
          <p:cNvSpPr txBox="1"/>
          <p:nvPr/>
        </p:nvSpPr>
        <p:spPr>
          <a:xfrm>
            <a:off x="6163055" y="3630168"/>
            <a:ext cx="2139696" cy="4294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5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LLM persona tuning </a:t>
            </a:r>
            <a:endParaRPr lang="en-US" sz="1250" b="1" dirty="0">
              <a:solidFill>
                <a:srgbClr val="111111"/>
              </a:solidFill>
              <a:latin typeface="Pretendard SemiBold"/>
              <a:ea typeface="Pretendard SemiBold"/>
              <a:cs typeface="Pretendard SemiBold"/>
            </a:endParaRPr>
          </a:p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50" b="1" dirty="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(Gemini / keywords)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5" y="4343400"/>
            <a:ext cx="2139696" cy="188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LLM 페르소나 조정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5" y="4846320"/>
            <a:ext cx="2139696" cy="3200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7" name="TextBox 26"/>
          <p:cNvSpPr txBox="1"/>
          <p:nvPr/>
        </p:nvSpPr>
        <p:spPr>
          <a:xfrm>
            <a:off x="6163055" y="4925548"/>
            <a:ext cx="213969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lang="en-US" altLang="ko-KR" sz="1050" b="1" dirty="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A · </a:t>
            </a:r>
            <a:r>
              <a:rPr lang="en-US" altLang="ko-KR" sz="1050" b="1" dirty="0" err="1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Hyeonjin</a:t>
            </a:r>
            <a:endParaRPr lang="en-US" altLang="ko-KR" sz="1050" b="1" dirty="0">
              <a:solidFill>
                <a:srgbClr val="111111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9838944" y="3008376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9" name="TextBox 28"/>
          <p:cNvSpPr txBox="1"/>
          <p:nvPr/>
        </p:nvSpPr>
        <p:spPr>
          <a:xfrm>
            <a:off x="8668511" y="2542032"/>
            <a:ext cx="2542032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Final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68511" y="3429000"/>
            <a:ext cx="2542032" cy="1874519"/>
          </a:xfrm>
          <a:prstGeom prst="roundRect">
            <a:avLst>
              <a:gd name="adj" fmla="val 9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1" name="TextBox 30"/>
          <p:cNvSpPr txBox="1"/>
          <p:nvPr/>
        </p:nvSpPr>
        <p:spPr>
          <a:xfrm>
            <a:off x="8869680" y="3630168"/>
            <a:ext cx="2139696" cy="208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250" b="1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3-min demo video +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343400"/>
            <a:ext cx="2139696" cy="1882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데모 영상 + 보고서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4846320"/>
            <a:ext cx="2139696" cy="3200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4" name="TextBox 33"/>
          <p:cNvSpPr txBox="1"/>
          <p:nvPr/>
        </p:nvSpPr>
        <p:spPr>
          <a:xfrm>
            <a:off x="8869680" y="4925548"/>
            <a:ext cx="213969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Both · 공동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2552" y="6446520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</a:pPr>
            <a:r>
              <a:rPr sz="900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References: voice-assistant (GitHub), HRI papers (ACM), Pi AI Kit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A1A1AA"/>
                </a:solidFill>
                <a:latin typeface="Pretendard Medium"/>
                <a:ea typeface="Pretendard Medium"/>
                <a:cs typeface="Pretendard Medium"/>
              </a:rPr>
              <a:t>IoT Systems  ·  Midterm Draft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14600"/>
            <a:ext cx="11274552" cy="1474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</a:pPr>
            <a:r>
              <a:rPr sz="5400" b="1" spc="-22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Thank you.</a:t>
            </a:r>
          </a:p>
          <a:p>
            <a:pPr algn="ctr">
              <a:lnSpc>
                <a:spcPct val="104000"/>
              </a:lnSpc>
              <a:spcBef>
                <a:spcPts val="0"/>
              </a:spcBef>
            </a:pPr>
            <a:r>
              <a:rPr sz="4000" b="1" spc="-160" dirty="0" err="1">
                <a:solidFill>
                  <a:srgbClr val="A1A1AA"/>
                </a:solidFill>
                <a:latin typeface="Pretendard Black"/>
                <a:ea typeface="Pretendard Black"/>
                <a:cs typeface="Pretendard Black"/>
              </a:rPr>
              <a:t>감사합니다</a:t>
            </a:r>
            <a:r>
              <a:rPr sz="4000" b="1" spc="-160" dirty="0">
                <a:solidFill>
                  <a:srgbClr val="A1A1AA"/>
                </a:solidFill>
                <a:latin typeface="Pretendard Black"/>
                <a:ea typeface="Pretendard Black"/>
                <a:cs typeface="Pretendard Black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65760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1A1AA"/>
                </a:solidFill>
                <a:latin typeface="Pretendard Medium"/>
                <a:ea typeface="Pretendard Medium"/>
                <a:cs typeface="Pretendard Medium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1332</Words>
  <Application>Microsoft Office PowerPoint</Application>
  <PresentationFormat>와이드스크린</PresentationFormat>
  <Paragraphs>271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Pretendard SemiBold</vt:lpstr>
      <vt:lpstr>Arial</vt:lpstr>
      <vt:lpstr>Pretendard Black</vt:lpstr>
      <vt:lpstr>Calibri</vt:lpstr>
      <vt:lpstr>Pretendard Medium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조현진</dc:creator>
  <cp:keywords/>
  <dc:description>generated using python-pptx</dc:description>
  <cp:lastModifiedBy>현진 조</cp:lastModifiedBy>
  <cp:revision>3</cp:revision>
  <dcterms:created xsi:type="dcterms:W3CDTF">2013-01-27T09:14:16Z</dcterms:created>
  <dcterms:modified xsi:type="dcterms:W3CDTF">2026-06-07T10:17:58Z</dcterms:modified>
  <cp:category/>
</cp:coreProperties>
</file>